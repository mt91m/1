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4" r:id="rId7"/>
    <p:sldId id="269" r:id="rId8"/>
    <p:sldId id="268" r:id="rId9"/>
    <p:sldId id="260" r:id="rId10"/>
    <p:sldId id="261" r:id="rId11"/>
    <p:sldId id="263" r:id="rId12"/>
    <p:sldId id="265" r:id="rId13"/>
    <p:sldId id="266" r:id="rId14"/>
    <p:sldId id="267" r:id="rId15"/>
    <p:sldId id="271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59" autoAdjust="0"/>
    <p:restoredTop sz="94660"/>
  </p:normalViewPr>
  <p:slideViewPr>
    <p:cSldViewPr snapToGrid="0">
      <p:cViewPr varScale="1">
        <p:scale>
          <a:sx n="66" d="100"/>
          <a:sy n="66" d="100"/>
        </p:scale>
        <p:origin x="9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6AB27-89C8-85E2-9562-82DDD2C04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ED82CD-6EC8-0411-BF3E-5BCBF7D796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2958A-7E7A-3FFC-3BC5-5E342FBD6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A45E3-2A2C-4C64-B5D3-BC8B40087A3B}" type="datetimeFigureOut">
              <a:rPr lang="en-US" smtClean="0"/>
              <a:t>01/06/2026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BD9A1-10B0-9660-776B-829939A98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8A938-0834-AD15-5219-C0624F7BE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4B6B-A32C-41A6-82BD-A4C71764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1997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6FE1A-ADD7-4F36-C05F-1D1A4B0A4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578E2-BC44-93EB-1DC1-9A16FA357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2755B-3173-5220-CF9E-8D7C758B0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A45E3-2A2C-4C64-B5D3-BC8B40087A3B}" type="datetimeFigureOut">
              <a:rPr lang="en-US" smtClean="0"/>
              <a:t>01/06/2026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C60D2-428C-58E0-ECD5-48E9F945C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645BB-AC25-669B-DE44-583B59720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4B6B-A32C-41A6-82BD-A4C71764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5522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E1DED-2B3F-DC25-75B4-42500AAB9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BD0A40-8BE2-1C49-1E66-C8EB854CA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CD34E-36BB-1BBE-BE27-47E27CBAA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A45E3-2A2C-4C64-B5D3-BC8B40087A3B}" type="datetimeFigureOut">
              <a:rPr lang="en-US" smtClean="0"/>
              <a:t>01/06/2026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F6044-7C01-A691-57DC-2E78303EC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605D6-9FA3-81CC-A14F-6980E2846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4B6B-A32C-41A6-82BD-A4C71764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2034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6F28B-CE52-B19B-3172-4571C25A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1812C-770F-FB14-F3AE-B23CE0D8BE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E35C26-EB6B-4DAA-BD81-ECD27E0761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69BCB2-08FA-992E-ACA8-1E9E89D2A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A45E3-2A2C-4C64-B5D3-BC8B40087A3B}" type="datetimeFigureOut">
              <a:rPr lang="en-US" smtClean="0"/>
              <a:t>01/06/2026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830A6-5523-BCF8-8235-D0C073AA2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C84FCA-66A8-3F49-8771-234088BD6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4B6B-A32C-41A6-82BD-A4C71764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621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5F224-8FFD-03FB-C702-FE4B3BA92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80C44-CD37-6528-D162-ED2204CFC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1A5F30-DB22-8FD2-7D3B-02EDF325D1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D7799C-26E4-7A79-68BB-5DFB0DA99C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DBC6A6-EB06-48B3-7B2F-C73A7F86DF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3F1608-81FC-7C69-44DA-62C75A244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A45E3-2A2C-4C64-B5D3-BC8B40087A3B}" type="datetimeFigureOut">
              <a:rPr lang="en-US" smtClean="0"/>
              <a:t>01/06/2026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0C73DF-E05F-0732-29D8-088F30FC9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F34789-8492-76BB-6563-803F5F5EB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4B6B-A32C-41A6-82BD-A4C71764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8019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5998B-E169-0114-B320-46AC987EC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A80065-10D6-7C4D-304D-AA1DE0221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A45E3-2A2C-4C64-B5D3-BC8B40087A3B}" type="datetimeFigureOut">
              <a:rPr lang="en-US" smtClean="0"/>
              <a:t>01/06/2026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CB35C2-A707-15EF-A00C-7696D59AD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AF4232-5192-2CA5-566F-0440FAFCC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4B6B-A32C-41A6-82BD-A4C71764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5906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3AA393-3805-35A7-0AD5-0052116D1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A45E3-2A2C-4C64-B5D3-BC8B40087A3B}" type="datetimeFigureOut">
              <a:rPr lang="en-US" smtClean="0"/>
              <a:t>01/06/2026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AED27B-643D-5D12-C719-9FA044CE0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7040F-7F79-76E6-3F53-068C9F2B3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4B6B-A32C-41A6-82BD-A4C71764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8592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CACF4-EE58-BE6D-54D1-F308BDCB4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D5867-7EA7-C68F-02F5-471214E11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6CB8EE-26CB-B43D-36CD-DF3B4C2E9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BABCDF-8DF3-BDF0-F06D-2F4959883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A45E3-2A2C-4C64-B5D3-BC8B40087A3B}" type="datetimeFigureOut">
              <a:rPr lang="en-US" smtClean="0"/>
              <a:t>01/06/2026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65B65F-6EB3-4B7D-2A90-B5D5C4987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875A9C-CF49-0132-B075-F02A45A41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4B6B-A32C-41A6-82BD-A4C71764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7968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47A72-A62B-6B06-F225-2384F0EAD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3FCEB6-8558-4CA2-6445-23F9C6F106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4E22EB-B15D-4E7D-F191-7D9204FF6D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E26474-73BB-832E-A327-40A40B06D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A45E3-2A2C-4C64-B5D3-BC8B40087A3B}" type="datetimeFigureOut">
              <a:rPr lang="en-US" smtClean="0"/>
              <a:t>01/06/2026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08196-167A-122F-E014-50298CB7A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8A32F5-4045-07A6-BBF5-20F16E3C6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4B6B-A32C-41A6-82BD-A4C71764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1605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4060F-FC2A-5E3F-6847-1AF234D53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8D0409-1276-8683-E36B-5F323AB0FA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551E5-846B-58C0-616A-2200602EC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A45E3-2A2C-4C64-B5D3-BC8B40087A3B}" type="datetimeFigureOut">
              <a:rPr lang="en-US" smtClean="0"/>
              <a:t>01/06/2026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98375-D2EB-9222-1600-CFF0169A2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9A890-8293-076B-4166-6445BC9C5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4B6B-A32C-41A6-82BD-A4C71764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3504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4E2183-28A5-68CC-AD31-B301B176DB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C0EAFB-F1B1-007E-71B9-06EEB34E9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F44D2D-7633-5F77-CB7C-EF3E0E476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A45E3-2A2C-4C64-B5D3-BC8B40087A3B}" type="datetimeFigureOut">
              <a:rPr lang="en-US" smtClean="0"/>
              <a:t>01/06/2026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F14F4-DFEE-6D25-8BC7-9BDD28AA0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488B4-0986-F919-103D-617EE722C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4B6B-A32C-41A6-82BD-A4C71764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85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166DA9-D021-1A11-6085-F3ED69ABD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FA584A-65A9-A498-3F90-AE503965C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31017-0DD3-A85B-423B-FD9346CDBD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A45E3-2A2C-4C64-B5D3-BC8B40087A3B}" type="datetimeFigureOut">
              <a:rPr lang="en-US" smtClean="0"/>
              <a:t>01/06/2026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602F1-F8D4-9CC3-EC54-A5B32C70BF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AF45E-1F20-6E99-59F1-63B5938B2C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074B6B-A32C-41A6-82BD-A4C71764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59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0C9EE-C912-19C7-608A-738D928666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51506"/>
            <a:ext cx="9144000" cy="2387600"/>
          </a:xfrm>
        </p:spPr>
        <p:txBody>
          <a:bodyPr/>
          <a:lstStyle/>
          <a:p>
            <a:r>
              <a:rPr lang="fa-IR" dirty="0">
                <a:cs typeface="B Nazanin" panose="00000400000000000000" pitchFamily="2" charset="-78"/>
              </a:rPr>
              <a:t>بسم الله الرحمن الرحیم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DB8FA5-7DA1-C60B-BD90-75ADD76BC4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506991"/>
          </a:xfrm>
        </p:spPr>
        <p:txBody>
          <a:bodyPr>
            <a:normAutofit/>
          </a:bodyPr>
          <a:lstStyle/>
          <a:p>
            <a:r>
              <a:rPr lang="fa-IR" dirty="0">
                <a:cs typeface="B Nazanin" panose="00000400000000000000" pitchFamily="2" charset="-78"/>
              </a:rPr>
              <a:t>خود آموز عربی هشتم</a:t>
            </a:r>
          </a:p>
          <a:p>
            <a:r>
              <a:rPr lang="fa-IR" dirty="0">
                <a:cs typeface="B Nazanin" panose="00000400000000000000" pitchFamily="2" charset="-78"/>
              </a:rPr>
              <a:t>درس اول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98F47E-5D34-84FD-81C9-38303FE3BCE4}"/>
              </a:ext>
            </a:extLst>
          </p:cNvPr>
          <p:cNvSpPr txBox="1"/>
          <p:nvPr/>
        </p:nvSpPr>
        <p:spPr>
          <a:xfrm>
            <a:off x="5668639" y="5254388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>
                <a:hlinkClick r:id="rId2" action="ppaction://hlinksldjump"/>
              </a:rPr>
              <a:t>بزن بریم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4385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B0976-0ADF-D431-CF9D-F9D9BF5C9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343" y="50574"/>
            <a:ext cx="10515600" cy="1325563"/>
          </a:xfrm>
        </p:spPr>
        <p:txBody>
          <a:bodyPr/>
          <a:lstStyle/>
          <a:p>
            <a:pPr algn="r" rtl="1"/>
            <a:r>
              <a:rPr lang="fa-IR" dirty="0"/>
              <a:t>کلمات درس 1: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8713C9-5F62-AA06-9F51-89D961BAEF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25309" y="1690688"/>
            <a:ext cx="1056353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C6F938-3ACC-B369-C04E-037E15793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480" y="1690688"/>
            <a:ext cx="2370829" cy="43513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53A82B-AD9A-09AD-3C93-6D87D48A11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1161" y="1690688"/>
            <a:ext cx="321620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3998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335FE-53A9-360E-50DD-9040830CB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/>
              <a:t>معنی درس اول: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6BEF800-71AC-6BD5-57F3-31BD8FF3D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869" y="1690688"/>
            <a:ext cx="7621588" cy="373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5173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6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5B819-426F-9708-2FD0-FB470BE57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fa-IR" dirty="0"/>
              <a:t>معنی خط به خط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0D3108-18C5-9678-DD20-8A1357AE8BDA}"/>
              </a:ext>
            </a:extLst>
          </p:cNvPr>
          <p:cNvSpPr txBox="1"/>
          <p:nvPr/>
        </p:nvSpPr>
        <p:spPr>
          <a:xfrm>
            <a:off x="1262743" y="2191657"/>
            <a:ext cx="100910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dirty="0"/>
              <a:t>یاداوری دروس کلاس هفتم</a:t>
            </a:r>
          </a:p>
          <a:p>
            <a:pPr algn="r" rtl="1"/>
            <a:r>
              <a:rPr lang="fa-IR" dirty="0"/>
              <a:t>سلام بر شما ای دانش آموزان</a:t>
            </a:r>
          </a:p>
          <a:p>
            <a:pPr algn="r" rtl="1"/>
            <a:r>
              <a:rPr lang="fa-IR" dirty="0"/>
              <a:t>سلام و خوش امدید به شما در کلاس هشتم</a:t>
            </a:r>
          </a:p>
          <a:p>
            <a:pPr algn="r" rtl="1"/>
            <a:r>
              <a:rPr lang="fa-IR" dirty="0"/>
              <a:t>حال شما چطور است؟</a:t>
            </a:r>
          </a:p>
          <a:p>
            <a:pPr algn="r" rtl="1"/>
            <a:r>
              <a:rPr lang="fa-IR" dirty="0"/>
              <a:t>سال تحصیلی جدید مبارک</a:t>
            </a:r>
          </a:p>
          <a:p>
            <a:pPr algn="r" rtl="1"/>
            <a:r>
              <a:rPr lang="fa-IR" dirty="0"/>
              <a:t>خداراشکر برای اینکه شما قادر هستید بر فهمیدن متن ها و عبارات ساده.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3801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D3170-3F5F-7752-5AA2-D11C32D32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/>
              <a:t>ارقام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316C0-D6E2-6FAE-A01F-A47E788DC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829" y="1690688"/>
            <a:ext cx="10515600" cy="5029425"/>
          </a:xfrm>
        </p:spPr>
        <p:txBody>
          <a:bodyPr>
            <a:normAutofit fontScale="92500" lnSpcReduction="20000"/>
          </a:bodyPr>
          <a:lstStyle/>
          <a:p>
            <a:pPr algn="r" rtl="1"/>
            <a:r>
              <a:rPr lang="fa-IR" dirty="0"/>
              <a:t>واحد          1         واحد</a:t>
            </a:r>
          </a:p>
          <a:p>
            <a:pPr algn="r" rtl="1"/>
            <a:r>
              <a:rPr lang="fa-IR" dirty="0"/>
              <a:t>ثانی           2         اثنان</a:t>
            </a:r>
          </a:p>
          <a:p>
            <a:pPr algn="r" rtl="1"/>
            <a:r>
              <a:rPr lang="fa-IR" dirty="0"/>
              <a:t>ثالث                     ثلاثه</a:t>
            </a:r>
          </a:p>
          <a:p>
            <a:pPr algn="r" rtl="1"/>
            <a:r>
              <a:rPr lang="fa-IR" dirty="0"/>
              <a:t>رابع                     اربعه</a:t>
            </a:r>
          </a:p>
          <a:p>
            <a:pPr algn="r" rtl="1"/>
            <a:r>
              <a:rPr lang="fa-IR" dirty="0"/>
              <a:t>خامس                    خمسه</a:t>
            </a:r>
          </a:p>
          <a:p>
            <a:pPr algn="r" rtl="1"/>
            <a:r>
              <a:rPr lang="fa-IR" dirty="0"/>
              <a:t>سادس                  سته</a:t>
            </a:r>
          </a:p>
          <a:p>
            <a:pPr algn="r" rtl="1"/>
            <a:r>
              <a:rPr lang="fa-IR" dirty="0"/>
              <a:t>سابع                     سبعه</a:t>
            </a:r>
          </a:p>
          <a:p>
            <a:pPr algn="r" rtl="1"/>
            <a:r>
              <a:rPr lang="fa-IR" dirty="0"/>
              <a:t>ثامن                    ثمانیه</a:t>
            </a:r>
          </a:p>
          <a:p>
            <a:pPr algn="r" rtl="1"/>
            <a:r>
              <a:rPr lang="fa-IR" dirty="0"/>
              <a:t>تاسع                   تسعه</a:t>
            </a:r>
          </a:p>
          <a:p>
            <a:pPr algn="r" rtl="1"/>
            <a:r>
              <a:rPr lang="fa-IR" dirty="0"/>
              <a:t>عاشر      10        عشر</a:t>
            </a:r>
          </a:p>
          <a:p>
            <a:pPr algn="r" rtl="1"/>
            <a:r>
              <a:rPr lang="fa-IR" dirty="0"/>
              <a:t>احد عشر    11</a:t>
            </a:r>
          </a:p>
          <a:p>
            <a:pPr algn="r" rtl="1"/>
            <a:r>
              <a:rPr lang="fa-IR" dirty="0"/>
              <a:t>اثنا عشر   12 </a:t>
            </a:r>
          </a:p>
        </p:txBody>
      </p:sp>
    </p:spTree>
    <p:extLst>
      <p:ext uri="{BB962C8B-B14F-4D97-AF65-F5344CB8AC3E}">
        <p14:creationId xmlns:p14="http://schemas.microsoft.com/office/powerpoint/2010/main" val="5519341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10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0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2FE47-94CA-86D5-C9B9-E708BAE14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/>
              <a:t>الوان – ایام -مواسم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79039-E88B-F320-65C4-6AA3DB408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3"/>
          <a:lstStyle/>
          <a:p>
            <a:pPr algn="r" rtl="1"/>
            <a:r>
              <a:rPr lang="fa-IR" dirty="0"/>
              <a:t>الربیع  بهار</a:t>
            </a:r>
          </a:p>
          <a:p>
            <a:pPr algn="r" rtl="1"/>
            <a:endParaRPr lang="fa-IR" dirty="0"/>
          </a:p>
          <a:p>
            <a:pPr algn="r" rtl="1"/>
            <a:r>
              <a:rPr lang="fa-IR" dirty="0"/>
              <a:t>الصیف  تابستان</a:t>
            </a:r>
          </a:p>
          <a:p>
            <a:pPr algn="r" rtl="1"/>
            <a:endParaRPr lang="fa-IR" dirty="0"/>
          </a:p>
          <a:p>
            <a:pPr algn="r" rtl="1"/>
            <a:r>
              <a:rPr lang="fa-IR" dirty="0"/>
              <a:t>خمیس  پائیز</a:t>
            </a:r>
          </a:p>
          <a:p>
            <a:pPr algn="r" rtl="1"/>
            <a:endParaRPr lang="fa-IR" dirty="0"/>
          </a:p>
          <a:p>
            <a:pPr algn="r" rtl="1"/>
            <a:r>
              <a:rPr lang="fa-IR" dirty="0"/>
              <a:t>شتا   زمستان</a:t>
            </a:r>
          </a:p>
          <a:p>
            <a:pPr algn="r" rtl="1"/>
            <a:endParaRPr lang="fa-IR" dirty="0"/>
          </a:p>
          <a:p>
            <a:pPr algn="r" rtl="1"/>
            <a:r>
              <a:rPr lang="fa-IR" dirty="0"/>
              <a:t>السبت   شنبه</a:t>
            </a:r>
          </a:p>
          <a:p>
            <a:pPr algn="r" rtl="1"/>
            <a:r>
              <a:rPr lang="fa-IR" dirty="0"/>
              <a:t>الاحد    یکشنبه</a:t>
            </a:r>
          </a:p>
          <a:p>
            <a:pPr algn="r" rtl="1"/>
            <a:r>
              <a:rPr lang="fa-IR" dirty="0"/>
              <a:t>الثنین</a:t>
            </a:r>
          </a:p>
          <a:p>
            <a:pPr algn="r" rtl="1"/>
            <a:r>
              <a:rPr lang="fa-IR" dirty="0"/>
              <a:t>الثلاثا</a:t>
            </a:r>
          </a:p>
          <a:p>
            <a:pPr algn="r" rtl="1"/>
            <a:r>
              <a:rPr lang="fa-IR" dirty="0"/>
              <a:t>الاربعا</a:t>
            </a:r>
          </a:p>
          <a:p>
            <a:pPr algn="r" rtl="1"/>
            <a:r>
              <a:rPr lang="fa-IR" dirty="0"/>
              <a:t>الخمیس  پنجشنبه</a:t>
            </a:r>
          </a:p>
          <a:p>
            <a:pPr algn="r" rtl="1"/>
            <a:r>
              <a:rPr lang="fa-IR" dirty="0"/>
              <a:t>الجمعه   جمعه</a:t>
            </a:r>
          </a:p>
          <a:p>
            <a:pPr algn="r" rtl="1"/>
            <a:endParaRPr lang="fa-IR" dirty="0"/>
          </a:p>
          <a:p>
            <a:pPr algn="r" rtl="1"/>
            <a:r>
              <a:rPr lang="fa-IR" dirty="0"/>
              <a:t>ابیض  سفید</a:t>
            </a:r>
          </a:p>
          <a:p>
            <a:pPr algn="r" rtl="1"/>
            <a:r>
              <a:rPr lang="fa-IR" dirty="0"/>
              <a:t>اسود   سیاه</a:t>
            </a:r>
          </a:p>
          <a:p>
            <a:pPr algn="r" rtl="1"/>
            <a:r>
              <a:rPr lang="fa-IR" dirty="0"/>
              <a:t>ازرق</a:t>
            </a:r>
          </a:p>
          <a:p>
            <a:pPr algn="r" rtl="1"/>
            <a:r>
              <a:rPr lang="fa-IR" dirty="0"/>
              <a:t>احمر  قرمز</a:t>
            </a:r>
          </a:p>
          <a:p>
            <a:pPr algn="r" rtl="1"/>
            <a:r>
              <a:rPr lang="fa-IR" dirty="0"/>
              <a:t>اخضر</a:t>
            </a:r>
          </a:p>
          <a:p>
            <a:pPr algn="r" rtl="1"/>
            <a:r>
              <a:rPr lang="fa-IR" dirty="0"/>
              <a:t>اصفر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3516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1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2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3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4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5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65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4ACFE8-8C21-8C82-95A8-1F5C6AFAB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2387" y="80962"/>
            <a:ext cx="4467225" cy="669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9231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B0976-0ADF-D431-CF9D-F9D9BF5C9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/>
              <a:t>تمرین واحد- معنی هر کدام را ابتدا در ذهن خود مشخص کنید بعد اسپیس بزنید.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8713C9-5F62-AA06-9F51-89D961BAEF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25309" y="1690688"/>
            <a:ext cx="1056353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C6F938-3ACC-B369-C04E-037E15793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480" y="1690688"/>
            <a:ext cx="2370829" cy="43513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53A82B-AD9A-09AD-3C93-6D87D48A11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1161" y="1690688"/>
            <a:ext cx="3216206" cy="435133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6879B40-2E9F-F266-A225-1355B86EC622}"/>
              </a:ext>
            </a:extLst>
          </p:cNvPr>
          <p:cNvSpPr/>
          <p:nvPr/>
        </p:nvSpPr>
        <p:spPr>
          <a:xfrm>
            <a:off x="7754480" y="1690688"/>
            <a:ext cx="2370829" cy="3993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8D2649-721C-D72A-464C-E6957CB7E3EA}"/>
              </a:ext>
            </a:extLst>
          </p:cNvPr>
          <p:cNvSpPr/>
          <p:nvPr/>
        </p:nvSpPr>
        <p:spPr>
          <a:xfrm>
            <a:off x="7754480" y="2090057"/>
            <a:ext cx="2370829" cy="7241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9269C9-070A-1C09-D38B-962B6F482EFA}"/>
              </a:ext>
            </a:extLst>
          </p:cNvPr>
          <p:cNvSpPr/>
          <p:nvPr/>
        </p:nvSpPr>
        <p:spPr>
          <a:xfrm>
            <a:off x="7754480" y="2824701"/>
            <a:ext cx="2370829" cy="3993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A383E9-6323-4258-CCC1-E367C4C7E56A}"/>
              </a:ext>
            </a:extLst>
          </p:cNvPr>
          <p:cNvSpPr/>
          <p:nvPr/>
        </p:nvSpPr>
        <p:spPr>
          <a:xfrm>
            <a:off x="7754480" y="3224070"/>
            <a:ext cx="2370829" cy="4946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82E787-4E2F-1FF9-37C2-0FC673092F2E}"/>
              </a:ext>
            </a:extLst>
          </p:cNvPr>
          <p:cNvSpPr/>
          <p:nvPr/>
        </p:nvSpPr>
        <p:spPr>
          <a:xfrm>
            <a:off x="7754480" y="3718722"/>
            <a:ext cx="2370829" cy="4648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D58275-D739-6483-05AB-1BA89A786A7D}"/>
              </a:ext>
            </a:extLst>
          </p:cNvPr>
          <p:cNvSpPr/>
          <p:nvPr/>
        </p:nvSpPr>
        <p:spPr>
          <a:xfrm>
            <a:off x="7754480" y="4183575"/>
            <a:ext cx="2370829" cy="5225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973CBB-87B5-7134-F018-3758336F507F}"/>
              </a:ext>
            </a:extLst>
          </p:cNvPr>
          <p:cNvSpPr/>
          <p:nvPr/>
        </p:nvSpPr>
        <p:spPr>
          <a:xfrm>
            <a:off x="7754480" y="4695598"/>
            <a:ext cx="2370829" cy="4098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B29E45-9DB4-1B2F-E7E5-BFA2CC2FC506}"/>
              </a:ext>
            </a:extLst>
          </p:cNvPr>
          <p:cNvSpPr/>
          <p:nvPr/>
        </p:nvSpPr>
        <p:spPr>
          <a:xfrm>
            <a:off x="7754480" y="5105460"/>
            <a:ext cx="2370829" cy="471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AA219D0-A004-B180-6823-73A62AC6AE0D}"/>
              </a:ext>
            </a:extLst>
          </p:cNvPr>
          <p:cNvSpPr/>
          <p:nvPr/>
        </p:nvSpPr>
        <p:spPr>
          <a:xfrm>
            <a:off x="7754480" y="5577173"/>
            <a:ext cx="2370829" cy="4648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EEC171-20A6-390A-32C8-AB0118D24FF3}"/>
              </a:ext>
            </a:extLst>
          </p:cNvPr>
          <p:cNvSpPr/>
          <p:nvPr/>
        </p:nvSpPr>
        <p:spPr>
          <a:xfrm>
            <a:off x="2001161" y="1690687"/>
            <a:ext cx="2062839" cy="5269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FE24102-2CF8-FD28-FF50-0EE0651673F6}"/>
              </a:ext>
            </a:extLst>
          </p:cNvPr>
          <p:cNvSpPr/>
          <p:nvPr/>
        </p:nvSpPr>
        <p:spPr>
          <a:xfrm>
            <a:off x="2001161" y="2191657"/>
            <a:ext cx="2062839" cy="5998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A71F52-A508-5525-09E4-09200BF47745}"/>
              </a:ext>
            </a:extLst>
          </p:cNvPr>
          <p:cNvSpPr/>
          <p:nvPr/>
        </p:nvSpPr>
        <p:spPr>
          <a:xfrm>
            <a:off x="2001161" y="2791506"/>
            <a:ext cx="2062839" cy="4325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8F749A7-19FF-1231-5599-444B4248B7E7}"/>
              </a:ext>
            </a:extLst>
          </p:cNvPr>
          <p:cNvSpPr/>
          <p:nvPr/>
        </p:nvSpPr>
        <p:spPr>
          <a:xfrm>
            <a:off x="2001161" y="3224070"/>
            <a:ext cx="2062839" cy="4325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2BB22C-3F59-BE62-503A-D04B9535E71B}"/>
              </a:ext>
            </a:extLst>
          </p:cNvPr>
          <p:cNvSpPr/>
          <p:nvPr/>
        </p:nvSpPr>
        <p:spPr>
          <a:xfrm>
            <a:off x="2001161" y="3656634"/>
            <a:ext cx="2062839" cy="5269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9DEA504-D516-8119-FBDF-7B7D3188528B}"/>
              </a:ext>
            </a:extLst>
          </p:cNvPr>
          <p:cNvSpPr/>
          <p:nvPr/>
        </p:nvSpPr>
        <p:spPr>
          <a:xfrm>
            <a:off x="2001161" y="4183575"/>
            <a:ext cx="2062839" cy="4325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4499B41-1556-A830-BE34-73D04CFB8512}"/>
              </a:ext>
            </a:extLst>
          </p:cNvPr>
          <p:cNvSpPr/>
          <p:nvPr/>
        </p:nvSpPr>
        <p:spPr>
          <a:xfrm>
            <a:off x="2001161" y="4616140"/>
            <a:ext cx="2062839" cy="489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E56240-8BEB-6B76-335F-F3182F96D654}"/>
              </a:ext>
            </a:extLst>
          </p:cNvPr>
          <p:cNvSpPr/>
          <p:nvPr/>
        </p:nvSpPr>
        <p:spPr>
          <a:xfrm>
            <a:off x="2001161" y="5105459"/>
            <a:ext cx="2062839" cy="9365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AA6B75-B271-A569-197E-A8608C014C06}"/>
              </a:ext>
            </a:extLst>
          </p:cNvPr>
          <p:cNvSpPr txBox="1"/>
          <p:nvPr/>
        </p:nvSpPr>
        <p:spPr>
          <a:xfrm>
            <a:off x="5226960" y="1709336"/>
            <a:ext cx="252751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2800" b="1" dirty="0"/>
              <a:t>تمام تمارین اینجوری اند (اول در ذهن خودتان انجام دهید بعد نتیجه راببینید)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0771037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9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9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6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A8F77-504D-42D2-10C3-6F9DF866E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/>
              <a:t>تمرین ثانی- هر کدام را معنی کنید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278750-BE01-DB7B-FE97-9ABB5DFC8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2502" y="1692978"/>
            <a:ext cx="2981325" cy="46897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45A72C-F3CE-1A49-6947-CC08A2C6E25A}"/>
              </a:ext>
            </a:extLst>
          </p:cNvPr>
          <p:cNvSpPr txBox="1"/>
          <p:nvPr/>
        </p:nvSpPr>
        <p:spPr>
          <a:xfrm>
            <a:off x="3158216" y="1612166"/>
            <a:ext cx="44704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400" dirty="0"/>
              <a:t>این </a:t>
            </a:r>
            <a:r>
              <a:rPr lang="fa-IR" sz="2000" dirty="0"/>
              <a:t>پلیس ایرانی است</a:t>
            </a:r>
          </a:p>
          <a:p>
            <a:pPr algn="r" rtl="1"/>
            <a:endParaRPr lang="fa-IR" sz="2000" dirty="0"/>
          </a:p>
          <a:p>
            <a:pPr algn="r" rtl="1"/>
            <a:r>
              <a:rPr lang="fa-IR" sz="2000" dirty="0"/>
              <a:t>این شیرینی فروش ماهر است</a:t>
            </a:r>
          </a:p>
          <a:p>
            <a:pPr algn="r" rtl="1"/>
            <a:endParaRPr lang="fa-IR" sz="2000" dirty="0"/>
          </a:p>
          <a:p>
            <a:pPr algn="r" rtl="1"/>
            <a:r>
              <a:rPr lang="fa-IR" sz="2000" dirty="0"/>
              <a:t>آن آشپز تمیز است</a:t>
            </a:r>
          </a:p>
          <a:p>
            <a:pPr algn="r" rtl="1"/>
            <a:endParaRPr lang="fa-IR" sz="2000" dirty="0"/>
          </a:p>
          <a:p>
            <a:pPr algn="r" rtl="1"/>
            <a:r>
              <a:rPr lang="fa-IR" sz="2000" dirty="0"/>
              <a:t>آن اتوبوس بزرگ است</a:t>
            </a:r>
          </a:p>
          <a:p>
            <a:pPr algn="r" rtl="1"/>
            <a:endParaRPr lang="fa-IR" sz="2000" dirty="0"/>
          </a:p>
          <a:p>
            <a:pPr algn="r" rtl="1"/>
            <a:r>
              <a:rPr lang="fa-IR" sz="2000" dirty="0"/>
              <a:t>این دو دانش اموز راستگو هستند</a:t>
            </a:r>
          </a:p>
          <a:p>
            <a:pPr algn="r" rtl="1"/>
            <a:endParaRPr lang="fa-IR" sz="2000" dirty="0"/>
          </a:p>
          <a:p>
            <a:pPr algn="r" rtl="1"/>
            <a:r>
              <a:rPr lang="fa-IR" sz="2000" dirty="0"/>
              <a:t>این دو پرستار صبور هستند</a:t>
            </a:r>
          </a:p>
          <a:p>
            <a:pPr algn="r" rtl="1"/>
            <a:endParaRPr lang="fa-IR" sz="2000" dirty="0"/>
          </a:p>
          <a:p>
            <a:pPr algn="r" rtl="1"/>
            <a:r>
              <a:rPr lang="fa-IR" sz="2000" dirty="0"/>
              <a:t>آن دانش اموز ایستاده اند</a:t>
            </a:r>
          </a:p>
          <a:p>
            <a:pPr algn="r" rtl="1"/>
            <a:endParaRPr lang="fa-IR" sz="2000" dirty="0"/>
          </a:p>
          <a:p>
            <a:pPr algn="r" rtl="1"/>
            <a:r>
              <a:rPr lang="fa-IR" sz="2000" dirty="0"/>
              <a:t>ان مادران نشسته اند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418058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209DA-A7BF-2926-BDE2-2A6FD7966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/>
              <a:t>تمرین الثالث- جواب هر کدام را به عربی بدهید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0C8B69-3C10-AE5B-A4B2-F7EFCDBF4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3568" y="1616529"/>
            <a:ext cx="6228432" cy="23141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711790-3C56-5793-855F-4F04DE49E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16" y="1674511"/>
            <a:ext cx="5934627" cy="22561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2A7CDF-5DDF-9827-AF8F-27480F15335F}"/>
              </a:ext>
            </a:extLst>
          </p:cNvPr>
          <p:cNvSpPr txBox="1"/>
          <p:nvPr/>
        </p:nvSpPr>
        <p:spPr>
          <a:xfrm>
            <a:off x="406400" y="4572000"/>
            <a:ext cx="11553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dirty="0"/>
              <a:t>هذه نافذه                    هذا القمیص                     هی جلست فی بستان        لبروین اعتصامی             ثلاثه                       هو سعدی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087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F0FF0-CD99-2D82-43E8-7D39B24AB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/>
              <a:t>تمرین رابع- تعداد هر کدام را مشخص کنید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18205D-32BD-A569-7DE2-F0ABE6D85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4730" y="1521732"/>
            <a:ext cx="5847270" cy="28760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A59380-FBAB-2FAE-6F83-26C9B9B1B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64" y="1521732"/>
            <a:ext cx="5848868" cy="28760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94ED08-8398-10EB-E390-BE98C3D361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8554" y="4533540"/>
            <a:ext cx="3533446" cy="20417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CD97ECA-C29E-681D-A2C8-5B93BD1AB86C}"/>
              </a:ext>
            </a:extLst>
          </p:cNvPr>
          <p:cNvSpPr txBox="1"/>
          <p:nvPr/>
        </p:nvSpPr>
        <p:spPr>
          <a:xfrm>
            <a:off x="10551886" y="3920248"/>
            <a:ext cx="63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dirty="0"/>
              <a:t>ثمانیه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3F5254-FFDA-67C4-C1C1-4186B6AEF4CB}"/>
              </a:ext>
            </a:extLst>
          </p:cNvPr>
          <p:cNvSpPr txBox="1"/>
          <p:nvPr/>
        </p:nvSpPr>
        <p:spPr>
          <a:xfrm>
            <a:off x="7721600" y="3920248"/>
            <a:ext cx="63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dirty="0"/>
              <a:t>خمسه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24F841-EFB0-08D7-9525-EA258705B2B6}"/>
              </a:ext>
            </a:extLst>
          </p:cNvPr>
          <p:cNvSpPr txBox="1"/>
          <p:nvPr/>
        </p:nvSpPr>
        <p:spPr>
          <a:xfrm>
            <a:off x="4455886" y="3920248"/>
            <a:ext cx="71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dirty="0"/>
              <a:t>سته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A96A79-FBEF-8104-9092-16F3E2BB3827}"/>
              </a:ext>
            </a:extLst>
          </p:cNvPr>
          <p:cNvSpPr txBox="1"/>
          <p:nvPr/>
        </p:nvSpPr>
        <p:spPr>
          <a:xfrm>
            <a:off x="1407887" y="3920248"/>
            <a:ext cx="71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dirty="0"/>
              <a:t>تسعه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5C4BB9-75AF-4BF1-25D9-AD7DF5C2332A}"/>
              </a:ext>
            </a:extLst>
          </p:cNvPr>
          <p:cNvSpPr txBox="1"/>
          <p:nvPr/>
        </p:nvSpPr>
        <p:spPr>
          <a:xfrm>
            <a:off x="10425277" y="6128613"/>
            <a:ext cx="71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dirty="0"/>
              <a:t>اثنا عشر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254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5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75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1" grpId="0"/>
      <p:bldP spid="12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07227-3FC8-A456-4CE0-592B0A25A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4114" y="365125"/>
            <a:ext cx="3109686" cy="1325563"/>
          </a:xfrm>
        </p:spPr>
        <p:txBody>
          <a:bodyPr>
            <a:normAutofit fontScale="90000"/>
          </a:bodyPr>
          <a:lstStyle/>
          <a:p>
            <a:pPr algn="r" rtl="1"/>
            <a:r>
              <a:rPr lang="fa-IR" dirty="0"/>
              <a:t>تمرین خامس</a:t>
            </a:r>
            <a:br>
              <a:rPr lang="fa-IR" dirty="0"/>
            </a:br>
            <a:r>
              <a:rPr lang="fa-IR" dirty="0"/>
              <a:t>رنگ هر کدام را مشخص کنید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62BE61-38A2-AB59-2436-5B62B5E0F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820" y="0"/>
            <a:ext cx="4682359" cy="68580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29EA052-A6D0-FE72-1DC7-8FA3426229DC}"/>
              </a:ext>
            </a:extLst>
          </p:cNvPr>
          <p:cNvCxnSpPr>
            <a:cxnSpLocks/>
          </p:cNvCxnSpPr>
          <p:nvPr/>
        </p:nvCxnSpPr>
        <p:spPr>
          <a:xfrm>
            <a:off x="8437179" y="2133600"/>
            <a:ext cx="15196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E083BD2-766B-E861-98B2-DA02FF9B458F}"/>
              </a:ext>
            </a:extLst>
          </p:cNvPr>
          <p:cNvCxnSpPr/>
          <p:nvPr/>
        </p:nvCxnSpPr>
        <p:spPr>
          <a:xfrm flipH="1">
            <a:off x="2540000" y="2133600"/>
            <a:ext cx="12148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A1312BF-AE7D-446C-018C-E7F17670D994}"/>
              </a:ext>
            </a:extLst>
          </p:cNvPr>
          <p:cNvCxnSpPr/>
          <p:nvPr/>
        </p:nvCxnSpPr>
        <p:spPr>
          <a:xfrm>
            <a:off x="8437179" y="4325257"/>
            <a:ext cx="13599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3F328EF-D819-0900-DC17-362EBF450915}"/>
              </a:ext>
            </a:extLst>
          </p:cNvPr>
          <p:cNvCxnSpPr/>
          <p:nvPr/>
        </p:nvCxnSpPr>
        <p:spPr>
          <a:xfrm flipH="1">
            <a:off x="2540000" y="4325257"/>
            <a:ext cx="12148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DC1B06-C0EE-4ECF-DC18-091CF934DCBE}"/>
              </a:ext>
            </a:extLst>
          </p:cNvPr>
          <p:cNvCxnSpPr/>
          <p:nvPr/>
        </p:nvCxnSpPr>
        <p:spPr>
          <a:xfrm>
            <a:off x="8437179" y="6531429"/>
            <a:ext cx="15196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1FCF600-26CF-FAC4-6B0B-129622A4EC04}"/>
              </a:ext>
            </a:extLst>
          </p:cNvPr>
          <p:cNvCxnSpPr/>
          <p:nvPr/>
        </p:nvCxnSpPr>
        <p:spPr>
          <a:xfrm flipH="1">
            <a:off x="2540000" y="6531429"/>
            <a:ext cx="12148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9996158-FEB7-EA9E-768E-DCDE200B8446}"/>
              </a:ext>
            </a:extLst>
          </p:cNvPr>
          <p:cNvSpPr txBox="1"/>
          <p:nvPr/>
        </p:nvSpPr>
        <p:spPr>
          <a:xfrm>
            <a:off x="9956800" y="1921250"/>
            <a:ext cx="19304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a-IR" dirty="0"/>
              <a:t> الاخضر</a:t>
            </a:r>
          </a:p>
          <a:p>
            <a:pPr algn="l"/>
            <a:endParaRPr lang="fa-IR" dirty="0"/>
          </a:p>
          <a:p>
            <a:pPr algn="l"/>
            <a:endParaRPr lang="fa-IR" dirty="0"/>
          </a:p>
          <a:p>
            <a:pPr algn="l"/>
            <a:endParaRPr lang="fa-IR" dirty="0"/>
          </a:p>
          <a:p>
            <a:pPr algn="l"/>
            <a:endParaRPr lang="fa-IR" dirty="0"/>
          </a:p>
          <a:p>
            <a:pPr algn="l"/>
            <a:endParaRPr lang="fa-IR" dirty="0"/>
          </a:p>
          <a:p>
            <a:pPr algn="l"/>
            <a:endParaRPr lang="fa-IR" dirty="0"/>
          </a:p>
          <a:p>
            <a:pPr algn="l"/>
            <a:endParaRPr lang="fa-IR" dirty="0"/>
          </a:p>
          <a:p>
            <a:pPr algn="l"/>
            <a:r>
              <a:rPr lang="fa-IR" dirty="0"/>
              <a:t>الاسود</a:t>
            </a:r>
          </a:p>
          <a:p>
            <a:pPr algn="l"/>
            <a:endParaRPr lang="fa-IR" dirty="0"/>
          </a:p>
          <a:p>
            <a:pPr algn="l"/>
            <a:endParaRPr lang="fa-IR" dirty="0"/>
          </a:p>
          <a:p>
            <a:pPr algn="l"/>
            <a:endParaRPr lang="fa-IR" dirty="0"/>
          </a:p>
          <a:p>
            <a:pPr algn="l"/>
            <a:endParaRPr lang="fa-IR" dirty="0"/>
          </a:p>
          <a:p>
            <a:pPr algn="l"/>
            <a:endParaRPr lang="fa-IR" dirty="0"/>
          </a:p>
          <a:p>
            <a:pPr algn="l"/>
            <a:endParaRPr lang="fa-IR" dirty="0"/>
          </a:p>
          <a:p>
            <a:pPr algn="l"/>
            <a:endParaRPr lang="fa-IR" dirty="0"/>
          </a:p>
          <a:p>
            <a:pPr algn="l"/>
            <a:r>
              <a:rPr lang="fa-IR" dirty="0"/>
              <a:t>الابیض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0A4987-0ECC-EC79-5EEC-C6C6876E397D}"/>
              </a:ext>
            </a:extLst>
          </p:cNvPr>
          <p:cNvSpPr txBox="1"/>
          <p:nvPr/>
        </p:nvSpPr>
        <p:spPr>
          <a:xfrm>
            <a:off x="537028" y="1948934"/>
            <a:ext cx="185782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dirty="0"/>
              <a:t>الاحمر</a:t>
            </a:r>
          </a:p>
          <a:p>
            <a:pPr algn="r" rtl="1"/>
            <a:endParaRPr lang="fa-IR" dirty="0"/>
          </a:p>
          <a:p>
            <a:pPr algn="r" rtl="1"/>
            <a:endParaRPr lang="fa-IR" dirty="0"/>
          </a:p>
          <a:p>
            <a:pPr algn="r" rtl="1"/>
            <a:endParaRPr lang="fa-IR" dirty="0"/>
          </a:p>
          <a:p>
            <a:pPr algn="r" rtl="1"/>
            <a:endParaRPr lang="fa-IR" dirty="0"/>
          </a:p>
          <a:p>
            <a:pPr algn="r" rtl="1"/>
            <a:endParaRPr lang="fa-IR" dirty="0"/>
          </a:p>
          <a:p>
            <a:pPr algn="r" rtl="1"/>
            <a:endParaRPr lang="fa-IR" dirty="0"/>
          </a:p>
          <a:p>
            <a:pPr algn="r" rtl="1"/>
            <a:endParaRPr lang="fa-IR" dirty="0"/>
          </a:p>
          <a:p>
            <a:pPr algn="r" rtl="1"/>
            <a:r>
              <a:rPr lang="fa-IR" dirty="0"/>
              <a:t>الاصفر</a:t>
            </a:r>
          </a:p>
          <a:p>
            <a:pPr algn="r" rtl="1"/>
            <a:endParaRPr lang="fa-IR" dirty="0"/>
          </a:p>
          <a:p>
            <a:pPr algn="r" rtl="1"/>
            <a:endParaRPr lang="fa-IR" dirty="0"/>
          </a:p>
          <a:p>
            <a:pPr algn="r" rtl="1"/>
            <a:endParaRPr lang="fa-IR" dirty="0"/>
          </a:p>
          <a:p>
            <a:pPr algn="r" rtl="1"/>
            <a:endParaRPr lang="fa-IR" dirty="0"/>
          </a:p>
          <a:p>
            <a:pPr algn="r" rtl="1"/>
            <a:endParaRPr lang="fa-IR" dirty="0"/>
          </a:p>
          <a:p>
            <a:pPr algn="r" rtl="1"/>
            <a:endParaRPr lang="fa-IR" dirty="0"/>
          </a:p>
          <a:p>
            <a:pPr algn="r" rtl="1"/>
            <a:endParaRPr lang="fa-IR" dirty="0"/>
          </a:p>
          <a:p>
            <a:pPr algn="r" rtl="1"/>
            <a:r>
              <a:rPr lang="fa-IR" dirty="0"/>
              <a:t>الازرق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4321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50"/>
                            </p:stCondLst>
                            <p:childTnLst>
                              <p:par>
                                <p:cTn id="11" presetID="16" presetClass="entr" presetSubtype="2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5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5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8" grpId="0"/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B4A62-FECD-6931-70F5-4E1E6CBF0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/>
              <a:t>تمرین سادس – مترادف ها و متضاد را مشخص کنید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02657C-D188-E7AB-6CF8-23A0887C2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289" y="1690688"/>
            <a:ext cx="8833421" cy="3782332"/>
          </a:xfrm>
          <a:prstGeom prst="rect">
            <a:avLst/>
          </a:prstGeom>
        </p:spPr>
      </p:pic>
      <p:sp>
        <p:nvSpPr>
          <p:cNvPr id="7" name="Equals 6">
            <a:extLst>
              <a:ext uri="{FF2B5EF4-FFF2-40B4-BE49-F238E27FC236}">
                <a16:creationId xmlns:a16="http://schemas.microsoft.com/office/drawing/2014/main" id="{C235FA23-F718-AD2C-9372-9B17703294D7}"/>
              </a:ext>
            </a:extLst>
          </p:cNvPr>
          <p:cNvSpPr/>
          <p:nvPr/>
        </p:nvSpPr>
        <p:spPr>
          <a:xfrm>
            <a:off x="8461828" y="2079058"/>
            <a:ext cx="914400" cy="449943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Not Equal 7">
            <a:extLst>
              <a:ext uri="{FF2B5EF4-FFF2-40B4-BE49-F238E27FC236}">
                <a16:creationId xmlns:a16="http://schemas.microsoft.com/office/drawing/2014/main" id="{5A2C4B48-8986-571B-FE87-9E751E0765C0}"/>
              </a:ext>
            </a:extLst>
          </p:cNvPr>
          <p:cNvSpPr/>
          <p:nvPr/>
        </p:nvSpPr>
        <p:spPr>
          <a:xfrm>
            <a:off x="8345714" y="2917371"/>
            <a:ext cx="769257" cy="449943"/>
          </a:xfrm>
          <a:prstGeom prst="mathNot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Equals 8">
            <a:extLst>
              <a:ext uri="{FF2B5EF4-FFF2-40B4-BE49-F238E27FC236}">
                <a16:creationId xmlns:a16="http://schemas.microsoft.com/office/drawing/2014/main" id="{69868201-C08F-BBAE-3043-BDE38E58D3E3}"/>
              </a:ext>
            </a:extLst>
          </p:cNvPr>
          <p:cNvSpPr/>
          <p:nvPr/>
        </p:nvSpPr>
        <p:spPr>
          <a:xfrm>
            <a:off x="8345714" y="3745252"/>
            <a:ext cx="914400" cy="449943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Equals 9">
            <a:extLst>
              <a:ext uri="{FF2B5EF4-FFF2-40B4-BE49-F238E27FC236}">
                <a16:creationId xmlns:a16="http://schemas.microsoft.com/office/drawing/2014/main" id="{01AA4511-4FEA-37DA-0D89-13CBE554BC97}"/>
              </a:ext>
            </a:extLst>
          </p:cNvPr>
          <p:cNvSpPr/>
          <p:nvPr/>
        </p:nvSpPr>
        <p:spPr>
          <a:xfrm>
            <a:off x="2808514" y="2917371"/>
            <a:ext cx="914400" cy="449943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Equals 10">
            <a:extLst>
              <a:ext uri="{FF2B5EF4-FFF2-40B4-BE49-F238E27FC236}">
                <a16:creationId xmlns:a16="http://schemas.microsoft.com/office/drawing/2014/main" id="{159E7195-D549-1C6B-DD4B-34095011012A}"/>
              </a:ext>
            </a:extLst>
          </p:cNvPr>
          <p:cNvSpPr/>
          <p:nvPr/>
        </p:nvSpPr>
        <p:spPr>
          <a:xfrm>
            <a:off x="5653313" y="4488429"/>
            <a:ext cx="914400" cy="449943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Equals 11">
            <a:extLst>
              <a:ext uri="{FF2B5EF4-FFF2-40B4-BE49-F238E27FC236}">
                <a16:creationId xmlns:a16="http://schemas.microsoft.com/office/drawing/2014/main" id="{20B8CF8D-8735-FECF-71EF-3FB99EA1C41F}"/>
              </a:ext>
            </a:extLst>
          </p:cNvPr>
          <p:cNvSpPr/>
          <p:nvPr/>
        </p:nvSpPr>
        <p:spPr>
          <a:xfrm>
            <a:off x="5638799" y="2075600"/>
            <a:ext cx="914400" cy="449943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Not Equal 12">
            <a:extLst>
              <a:ext uri="{FF2B5EF4-FFF2-40B4-BE49-F238E27FC236}">
                <a16:creationId xmlns:a16="http://schemas.microsoft.com/office/drawing/2014/main" id="{8C215404-8A66-34E9-DF0A-2DB00E40727F}"/>
              </a:ext>
            </a:extLst>
          </p:cNvPr>
          <p:cNvSpPr/>
          <p:nvPr/>
        </p:nvSpPr>
        <p:spPr>
          <a:xfrm>
            <a:off x="2931885" y="4618391"/>
            <a:ext cx="769257" cy="449943"/>
          </a:xfrm>
          <a:prstGeom prst="mathNot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Not Equal 13">
            <a:extLst>
              <a:ext uri="{FF2B5EF4-FFF2-40B4-BE49-F238E27FC236}">
                <a16:creationId xmlns:a16="http://schemas.microsoft.com/office/drawing/2014/main" id="{F07EB4F8-B759-EA57-93D3-24E5FE49D210}"/>
              </a:ext>
            </a:extLst>
          </p:cNvPr>
          <p:cNvSpPr/>
          <p:nvPr/>
        </p:nvSpPr>
        <p:spPr>
          <a:xfrm>
            <a:off x="2953657" y="3784684"/>
            <a:ext cx="769257" cy="449943"/>
          </a:xfrm>
          <a:prstGeom prst="mathNot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Not Equal 14">
            <a:extLst>
              <a:ext uri="{FF2B5EF4-FFF2-40B4-BE49-F238E27FC236}">
                <a16:creationId xmlns:a16="http://schemas.microsoft.com/office/drawing/2014/main" id="{36CC4707-DF33-7A19-31F5-D9DF3FAEFC42}"/>
              </a:ext>
            </a:extLst>
          </p:cNvPr>
          <p:cNvSpPr/>
          <p:nvPr/>
        </p:nvSpPr>
        <p:spPr>
          <a:xfrm>
            <a:off x="2953657" y="2108058"/>
            <a:ext cx="769257" cy="449943"/>
          </a:xfrm>
          <a:prstGeom prst="mathNot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Not Equal 15">
            <a:extLst>
              <a:ext uri="{FF2B5EF4-FFF2-40B4-BE49-F238E27FC236}">
                <a16:creationId xmlns:a16="http://schemas.microsoft.com/office/drawing/2014/main" id="{FEE96A41-C23A-E0F8-FF39-89407FBC09C0}"/>
              </a:ext>
            </a:extLst>
          </p:cNvPr>
          <p:cNvSpPr/>
          <p:nvPr/>
        </p:nvSpPr>
        <p:spPr>
          <a:xfrm>
            <a:off x="5804268" y="3875257"/>
            <a:ext cx="769257" cy="449943"/>
          </a:xfrm>
          <a:prstGeom prst="mathNot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Not Equal 16">
            <a:extLst>
              <a:ext uri="{FF2B5EF4-FFF2-40B4-BE49-F238E27FC236}">
                <a16:creationId xmlns:a16="http://schemas.microsoft.com/office/drawing/2014/main" id="{A18718DE-8D87-1AD4-7B99-65C4A90B6DA5}"/>
              </a:ext>
            </a:extLst>
          </p:cNvPr>
          <p:cNvSpPr/>
          <p:nvPr/>
        </p:nvSpPr>
        <p:spPr>
          <a:xfrm>
            <a:off x="5783942" y="2906939"/>
            <a:ext cx="769257" cy="449943"/>
          </a:xfrm>
          <a:prstGeom prst="mathNot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Not Equal 17">
            <a:extLst>
              <a:ext uri="{FF2B5EF4-FFF2-40B4-BE49-F238E27FC236}">
                <a16:creationId xmlns:a16="http://schemas.microsoft.com/office/drawing/2014/main" id="{82E3C249-E60E-1B9C-7508-7CE80D31890F}"/>
              </a:ext>
            </a:extLst>
          </p:cNvPr>
          <p:cNvSpPr/>
          <p:nvPr/>
        </p:nvSpPr>
        <p:spPr>
          <a:xfrm>
            <a:off x="8418285" y="4587023"/>
            <a:ext cx="769257" cy="449943"/>
          </a:xfrm>
          <a:prstGeom prst="mathNot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7851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66489-ECED-2D0C-1803-314D27781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/>
              <a:t>تمرین سابع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83E741-DE01-CC7C-4972-8C71E04B4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951" y="645205"/>
            <a:ext cx="6871884" cy="5567589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BEDF928B-FE1D-BD9F-F8DF-1433BB2B25DB}"/>
              </a:ext>
            </a:extLst>
          </p:cNvPr>
          <p:cNvSpPr/>
          <p:nvPr/>
        </p:nvSpPr>
        <p:spPr>
          <a:xfrm>
            <a:off x="2859315" y="952898"/>
            <a:ext cx="377371" cy="37737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893A80E-FE4D-779D-4A25-FA5980335887}"/>
              </a:ext>
            </a:extLst>
          </p:cNvPr>
          <p:cNvSpPr/>
          <p:nvPr/>
        </p:nvSpPr>
        <p:spPr>
          <a:xfrm>
            <a:off x="7380514" y="4824130"/>
            <a:ext cx="377371" cy="37737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648DC86-588E-1E63-4F0E-6085207A960C}"/>
              </a:ext>
            </a:extLst>
          </p:cNvPr>
          <p:cNvSpPr/>
          <p:nvPr/>
        </p:nvSpPr>
        <p:spPr>
          <a:xfrm>
            <a:off x="5921828" y="4175070"/>
            <a:ext cx="377371" cy="37737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9414267-F62A-9594-5A4D-69DD245CC6A3}"/>
              </a:ext>
            </a:extLst>
          </p:cNvPr>
          <p:cNvSpPr/>
          <p:nvPr/>
        </p:nvSpPr>
        <p:spPr>
          <a:xfrm>
            <a:off x="7373257" y="3525724"/>
            <a:ext cx="377371" cy="37737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2A2AE07-9576-F613-7002-36D7A6B91B66}"/>
              </a:ext>
            </a:extLst>
          </p:cNvPr>
          <p:cNvSpPr/>
          <p:nvPr/>
        </p:nvSpPr>
        <p:spPr>
          <a:xfrm>
            <a:off x="7373257" y="2904446"/>
            <a:ext cx="377371" cy="37737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1C39241-F65C-B638-49B9-E463B51710F8}"/>
              </a:ext>
            </a:extLst>
          </p:cNvPr>
          <p:cNvSpPr/>
          <p:nvPr/>
        </p:nvSpPr>
        <p:spPr>
          <a:xfrm>
            <a:off x="4434115" y="2237413"/>
            <a:ext cx="377371" cy="37737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514C01E-86E4-1571-73FE-D7A6FADB51C1}"/>
              </a:ext>
            </a:extLst>
          </p:cNvPr>
          <p:cNvSpPr/>
          <p:nvPr/>
        </p:nvSpPr>
        <p:spPr>
          <a:xfrm>
            <a:off x="7358743" y="1593397"/>
            <a:ext cx="377371" cy="37737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5E17B0C-2EDB-78DD-6769-3352FEBA38EC}"/>
              </a:ext>
            </a:extLst>
          </p:cNvPr>
          <p:cNvSpPr/>
          <p:nvPr/>
        </p:nvSpPr>
        <p:spPr>
          <a:xfrm>
            <a:off x="4463143" y="5459583"/>
            <a:ext cx="377371" cy="37737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9956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859F5-77CA-73E5-AED5-29E4A8CD1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/>
              <a:t>تمرین ثامن – متن را معنی کنید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923A6F-69DE-630C-5E08-A3685F786268}"/>
              </a:ext>
            </a:extLst>
          </p:cNvPr>
          <p:cNvSpPr txBox="1"/>
          <p:nvPr/>
        </p:nvSpPr>
        <p:spPr>
          <a:xfrm>
            <a:off x="1930400" y="1567543"/>
            <a:ext cx="92020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800" dirty="0">
                <a:cs typeface="B Arabic Style" panose="00000400000000000000" pitchFamily="2" charset="-78"/>
              </a:rPr>
              <a:t>اهلا و سهلا. نحن ذهبنا الی البندر انزلی فی فصل خمیس و نظرنا الی  بحر ازرق . انا طالب صف ثامن. نصوص فی صف ثامن بسیط. طباخ طبخ رز . ممرض واقف فی موقفه لحافله. زمیلی نجحت فی سنه دراسیه ماضی .</a:t>
            </a:r>
            <a:endParaRPr lang="en-US" sz="2800" dirty="0">
              <a:cs typeface="B Arabic Style" panose="000004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26FCB2-2F2A-0922-834A-157D9236AB20}"/>
              </a:ext>
            </a:extLst>
          </p:cNvPr>
          <p:cNvSpPr txBox="1"/>
          <p:nvPr/>
        </p:nvSpPr>
        <p:spPr>
          <a:xfrm>
            <a:off x="1930400" y="3585029"/>
            <a:ext cx="927462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800" dirty="0">
                <a:cs typeface="B Nazanin" panose="00000400000000000000" pitchFamily="2" charset="-78"/>
              </a:rPr>
              <a:t>سلام و خوش آمدید. ما رفتیم به بندر انزلی در فصل پائیز و نگاه کردیم به دریا ی آبی. من دانش اموز کلاس هشتمم. متن ها در کلاس هشتم ساده هستند. آشپز برنج پخت. پرستار ایستاده در ایستگاه برای اتوبوس. هم کلاسی من موفق شد در سال تحصیلی گذشته. </a:t>
            </a:r>
            <a:endParaRPr lang="en-US" sz="28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7812464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7A8F7-BC9E-10A6-F6DA-614B2F14C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/>
              <a:t>آزمون واحد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0970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1623</TotalTime>
  <Words>379</Words>
  <Application>Microsoft Office PowerPoint</Application>
  <PresentationFormat>Widescreen</PresentationFormat>
  <Paragraphs>116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B Arabic Style</vt:lpstr>
      <vt:lpstr>B Nazanin</vt:lpstr>
      <vt:lpstr>Office Theme</vt:lpstr>
      <vt:lpstr>بسم الله الرحمن الرحیم</vt:lpstr>
      <vt:lpstr>کلمات درس 1:</vt:lpstr>
      <vt:lpstr>معنی درس اول:</vt:lpstr>
      <vt:lpstr>معنی خط به خط</vt:lpstr>
      <vt:lpstr>ارقام</vt:lpstr>
      <vt:lpstr>الوان – ایام -مواسم</vt:lpstr>
      <vt:lpstr>PowerPoint Presentation</vt:lpstr>
      <vt:lpstr>تمرین واحد- معنی هر کدام را ابتدا در ذهن خود مشخص کنید بعد اسپیس بزنید.</vt:lpstr>
      <vt:lpstr>تمرین ثانی- هر کدام را معنی کنید</vt:lpstr>
      <vt:lpstr>تمرین الثالث- جواب هر کدام را به عربی بدهید</vt:lpstr>
      <vt:lpstr>تمرین رابع- تعداد هر کدام را مشخص کنید</vt:lpstr>
      <vt:lpstr>تمرین خامس رنگ هر کدام را مشخص کنید</vt:lpstr>
      <vt:lpstr>تمرین سادس – مترادف ها و متضاد را مشخص کنید</vt:lpstr>
      <vt:lpstr>تمرین سابع</vt:lpstr>
      <vt:lpstr>تمرین ثامن – متن را معنی کنید</vt:lpstr>
      <vt:lpstr>آزمون واحد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mahdi tn</dc:creator>
  <cp:lastModifiedBy>mahdi tn</cp:lastModifiedBy>
  <cp:revision>44</cp:revision>
  <dcterms:created xsi:type="dcterms:W3CDTF">2026-01-04T13:31:49Z</dcterms:created>
  <dcterms:modified xsi:type="dcterms:W3CDTF">2026-01-06T11:07:55Z</dcterms:modified>
</cp:coreProperties>
</file>